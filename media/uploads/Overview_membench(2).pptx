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253"/>
    <a:srgbClr val="182B44"/>
    <a:srgbClr val="DCE9DF"/>
    <a:srgbClr val="DFE9DF"/>
    <a:srgbClr val="111C3D"/>
    <a:srgbClr val="2A4273"/>
    <a:srgbClr val="283F70"/>
    <a:srgbClr val="8FA9B1"/>
    <a:srgbClr val="203463"/>
    <a:srgbClr val="E9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>
        <p:scale>
          <a:sx n="66" d="100"/>
          <a:sy n="66" d="100"/>
        </p:scale>
        <p:origin x="165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082C7-BD87-42BD-9C0E-493592EF30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2116-4C3F-4849-AC8E-7CA56A0626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jpe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jpeg"/><Relationship Id="rId61" Type="http://schemas.openxmlformats.org/officeDocument/2006/relationships/image" Target="../media/image60.png"/><Relationship Id="rId19" Type="http://schemas.openxmlformats.org/officeDocument/2006/relationships/image" Target="../media/image18.jpe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jpe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图形 6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06352">
            <a:off x="1419910" y="4676177"/>
            <a:ext cx="3482704" cy="2608768"/>
          </a:xfrm>
          <a:prstGeom prst="rect">
            <a:avLst/>
          </a:prstGeom>
        </p:spPr>
      </p:pic>
      <p:sp>
        <p:nvSpPr>
          <p:cNvPr id="663" name="流程图: 可选过程 662"/>
          <p:cNvSpPr/>
          <p:nvPr/>
        </p:nvSpPr>
        <p:spPr>
          <a:xfrm>
            <a:off x="-66675" y="26488"/>
            <a:ext cx="12244450" cy="343484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1" name="图片 600"/>
          <p:cNvPicPr>
            <a:picLocks noChangeAspect="1"/>
          </p:cNvPicPr>
          <p:nvPr/>
        </p:nvPicPr>
        <p:blipFill rotWithShape="1">
          <a:blip r:embed="rId4"/>
          <a:srcRect l="1361" t="73457" r="1767" b="15252"/>
          <a:stretch>
            <a:fillRect/>
          </a:stretch>
        </p:blipFill>
        <p:spPr>
          <a:xfrm>
            <a:off x="-26711" y="363522"/>
            <a:ext cx="12204486" cy="3155213"/>
          </a:xfrm>
          <a:prstGeom prst="rect">
            <a:avLst/>
          </a:prstGeom>
        </p:spPr>
      </p:pic>
      <p:sp>
        <p:nvSpPr>
          <p:cNvPr id="592" name="矩形: 圆角 591"/>
          <p:cNvSpPr/>
          <p:nvPr/>
        </p:nvSpPr>
        <p:spPr>
          <a:xfrm>
            <a:off x="6205033" y="3575951"/>
            <a:ext cx="5929889" cy="3241676"/>
          </a:xfrm>
          <a:prstGeom prst="roundRect">
            <a:avLst>
              <a:gd name="adj" fmla="val 2930"/>
            </a:avLst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03772" y="469921"/>
            <a:ext cx="21707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Mind2Act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Fusion Pixel 10px Prop zh-Hans" pitchFamily="2" charset="2"/>
              <a:ea typeface="Fusion Pixel 10px Prop zh-Hans" pitchFamily="2" charset="2"/>
              <a:cs typeface="Fusion Pixel 10px Prop zh-Hans" pitchFamily="2" charset="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146" y="1764797"/>
            <a:ext cx="2027436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46153" y="1772467"/>
            <a:ext cx="2019160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" b="10010"/>
          <a:stretch>
            <a:fillRect/>
          </a:stretch>
        </p:blipFill>
        <p:spPr>
          <a:xfrm>
            <a:off x="4637132" y="1457445"/>
            <a:ext cx="3055948" cy="1673223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10170" y="1764797"/>
            <a:ext cx="2027436" cy="1236736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19104" y="1764374"/>
            <a:ext cx="2033432" cy="123497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0" name="文本框 19"/>
          <p:cNvSpPr txBox="1"/>
          <p:nvPr/>
        </p:nvSpPr>
        <p:spPr>
          <a:xfrm>
            <a:off x="521580" y="2999003"/>
            <a:ext cx="13620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Comic Sans MS" panose="030F0702030302020204" pitchFamily="66" charset="0"/>
              </a:rPr>
              <a:t>Start Demo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95539" y="2974696"/>
            <a:ext cx="21691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Comic Sans MS" panose="030F0702030302020204" pitchFamily="66" charset="0"/>
              </a:rPr>
              <a:t>Observe &amp; Memorize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555767" y="3082609"/>
            <a:ext cx="13379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Piano Replay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372456" y="2932157"/>
            <a:ext cx="127444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Pick &amp; Drop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653085" y="2932150"/>
            <a:ext cx="6959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Press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390681" y="485041"/>
            <a:ext cx="278320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CN" dirty="0">
              <a:solidFill>
                <a:schemeClr val="bg1"/>
              </a:solidFill>
              <a:latin typeface="Comic Sans MS" panose="030F0702030302020204" pitchFamily="66" charset="0"/>
              <a:cs typeface="Comic Sans MS" panose="030F0702030302020204" pitchFamily="66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Where intent 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becomes physical reality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8633" y="3442237"/>
            <a:ext cx="184731" cy="1498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05750" y="3575741"/>
            <a:ext cx="662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Detailed Capability Profile for Better Diagnosis                          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50" name="track-key-label-Act"/>
          <p:cNvSpPr>
            <a:spLocks noGrp="1"/>
          </p:cNvSpPr>
          <p:nvPr/>
        </p:nvSpPr>
        <p:spPr>
          <a:xfrm>
            <a:off x="18375442" y="3638239"/>
            <a:ext cx="5238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  <a:defRPr sz="1050" b="0">
                <a:solidFill>
                  <a:srgbClr val="52646B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050" b="0">
                <a:solidFill>
                  <a:srgbClr val="52646B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Act</a:t>
            </a:r>
          </a:p>
        </p:txBody>
      </p:sp>
      <p:sp>
        <p:nvSpPr>
          <p:cNvPr id="185" name="可编辑弧形箭头"/>
          <p:cNvSpPr>
            <a:spLocks noGrp="1"/>
          </p:cNvSpPr>
          <p:nvPr/>
        </p:nvSpPr>
        <p:spPr>
          <a:xfrm rot="8613946">
            <a:off x="3717232" y="561988"/>
            <a:ext cx="788766" cy="854801"/>
          </a:xfrm>
          <a:custGeom>
            <a:avLst/>
            <a:gdLst/>
            <a:ahLst/>
            <a:cxnLst/>
            <a:rect l="0" t="0" r="0" b="0"/>
            <a:pathLst>
              <a:path w="1581150" h="1476375">
                <a:moveTo>
                  <a:pt x="0" y="1438275"/>
                </a:moveTo>
                <a:cubicBezTo>
                  <a:pt x="561975" y="1352550"/>
                  <a:pt x="981075" y="1028700"/>
                  <a:pt x="1181100" y="457200"/>
                </a:cubicBezTo>
                <a:lnTo>
                  <a:pt x="1028700" y="400050"/>
                </a:lnTo>
                <a:lnTo>
                  <a:pt x="1428750" y="0"/>
                </a:lnTo>
                <a:lnTo>
                  <a:pt x="1581150" y="571500"/>
                </a:lnTo>
                <a:lnTo>
                  <a:pt x="1381125" y="504825"/>
                </a:lnTo>
                <a:cubicBezTo>
                  <a:pt x="1133475" y="1133475"/>
                  <a:pt x="695325" y="1428750"/>
                  <a:pt x="0" y="1476375"/>
                </a:cubicBezTo>
                <a:close/>
              </a:path>
            </a:pathLst>
          </a:custGeom>
          <a:gradFill>
            <a:gsLst>
              <a:gs pos="0">
                <a:srgbClr val="E9EDE2"/>
              </a:gs>
              <a:gs pos="100000">
                <a:srgbClr val="203463"/>
              </a:gs>
            </a:gsLst>
            <a:lin ang="5400000" scaled="1"/>
          </a:gradFill>
          <a:ln w="0">
            <a:noFill/>
          </a:ln>
        </p:spPr>
      </p:sp>
      <p:sp>
        <p:nvSpPr>
          <p:cNvPr id="186" name="可编辑弧形箭头"/>
          <p:cNvSpPr>
            <a:spLocks noGrp="1"/>
          </p:cNvSpPr>
          <p:nvPr/>
        </p:nvSpPr>
        <p:spPr>
          <a:xfrm rot="19660332">
            <a:off x="7563764" y="522214"/>
            <a:ext cx="788766" cy="854801"/>
          </a:xfrm>
          <a:custGeom>
            <a:avLst/>
            <a:gdLst/>
            <a:ahLst/>
            <a:cxnLst/>
            <a:rect l="0" t="0" r="0" b="0"/>
            <a:pathLst>
              <a:path w="1581150" h="1476375">
                <a:moveTo>
                  <a:pt x="0" y="1438275"/>
                </a:moveTo>
                <a:cubicBezTo>
                  <a:pt x="561975" y="1352550"/>
                  <a:pt x="981075" y="1028700"/>
                  <a:pt x="1181100" y="457200"/>
                </a:cubicBezTo>
                <a:lnTo>
                  <a:pt x="1028700" y="400050"/>
                </a:lnTo>
                <a:lnTo>
                  <a:pt x="1428750" y="0"/>
                </a:lnTo>
                <a:lnTo>
                  <a:pt x="1581150" y="571500"/>
                </a:lnTo>
                <a:lnTo>
                  <a:pt x="1381125" y="504825"/>
                </a:lnTo>
                <a:cubicBezTo>
                  <a:pt x="1133475" y="1133475"/>
                  <a:pt x="695325" y="1428750"/>
                  <a:pt x="0" y="1476375"/>
                </a:cubicBezTo>
                <a:close/>
              </a:path>
            </a:pathLst>
          </a:custGeom>
          <a:gradFill>
            <a:gsLst>
              <a:gs pos="0">
                <a:srgbClr val="E9EDE2"/>
              </a:gs>
              <a:gs pos="100000">
                <a:srgbClr val="203463"/>
              </a:gs>
            </a:gsLst>
            <a:lin ang="5400000" scaled="1"/>
          </a:gradFill>
          <a:ln w="0">
            <a:noFill/>
          </a:ln>
        </p:spPr>
      </p:sp>
      <p:sp>
        <p:nvSpPr>
          <p:cNvPr id="222" name="文本框 221"/>
          <p:cNvSpPr txBox="1"/>
          <p:nvPr/>
        </p:nvSpPr>
        <p:spPr>
          <a:xfrm>
            <a:off x="1310975" y="841428"/>
            <a:ext cx="23336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Where observations</a:t>
            </a:r>
          </a:p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Comic Sans MS" panose="030F0702030302020204" pitchFamily="66" charset="0"/>
              </a:rPr>
              <a:t> become intent</a:t>
            </a:r>
          </a:p>
        </p:txBody>
      </p:sp>
      <p:sp>
        <p:nvSpPr>
          <p:cNvPr id="228" name="矩形: 圆角 227"/>
          <p:cNvSpPr/>
          <p:nvPr/>
        </p:nvSpPr>
        <p:spPr>
          <a:xfrm>
            <a:off x="19708" y="1651764"/>
            <a:ext cx="4515531" cy="1728398"/>
          </a:xfrm>
          <a:prstGeom prst="roundRect">
            <a:avLst/>
          </a:prstGeom>
          <a:noFill/>
          <a:ln w="19050"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9" name="矩形: 圆角 228"/>
          <p:cNvSpPr/>
          <p:nvPr/>
        </p:nvSpPr>
        <p:spPr>
          <a:xfrm>
            <a:off x="7797937" y="1603192"/>
            <a:ext cx="4263423" cy="1726246"/>
          </a:xfrm>
          <a:prstGeom prst="round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547" name="组合 546"/>
          <p:cNvGrpSpPr/>
          <p:nvPr/>
        </p:nvGrpSpPr>
        <p:grpSpPr>
          <a:xfrm>
            <a:off x="8918155" y="4002077"/>
            <a:ext cx="1734705" cy="831778"/>
            <a:chOff x="8036243" y="4522884"/>
            <a:chExt cx="845401" cy="654474"/>
          </a:xfrm>
        </p:grpSpPr>
        <p:grpSp>
          <p:nvGrpSpPr>
            <p:cNvPr id="512" name="VLA / WAM — Mind"/>
            <p:cNvGrpSpPr/>
            <p:nvPr/>
          </p:nvGrpSpPr>
          <p:grpSpPr>
            <a:xfrm rot="5400000">
              <a:off x="8286676" y="4272452"/>
              <a:ext cx="174526" cy="675390"/>
              <a:chOff x="2340864" y="3272790"/>
              <a:chExt cx="1040384" cy="4026122"/>
            </a:xfrm>
          </p:grpSpPr>
          <p:sp>
            <p:nvSpPr>
              <p:cNvPr id="535" name="G1_B1_bar"/>
              <p:cNvSpPr/>
              <p:nvPr/>
            </p:nvSpPr>
            <p:spPr>
              <a:xfrm>
                <a:off x="2340864" y="4530090"/>
                <a:ext cx="1040384" cy="2768822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536" name="G1_B1_easy_dash_0"/>
              <p:cNvSpPr/>
              <p:nvPr/>
            </p:nvSpPr>
            <p:spPr>
              <a:xfrm>
                <a:off x="2843689" y="3679275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7" name="G1_B1_easy_dash_1"/>
              <p:cNvSpPr/>
              <p:nvPr/>
            </p:nvSpPr>
            <p:spPr>
              <a:xfrm>
                <a:off x="2843689" y="3977301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8" name="G1_B1_easy_dash_2"/>
              <p:cNvSpPr/>
              <p:nvPr/>
            </p:nvSpPr>
            <p:spPr>
              <a:xfrm>
                <a:off x="2843689" y="4275328"/>
                <a:ext cx="35243" cy="37931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39" name="G1_B1_hard_dash_0"/>
              <p:cNvSpPr/>
              <p:nvPr/>
            </p:nvSpPr>
            <p:spPr>
              <a:xfrm>
                <a:off x="2839593" y="487680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0" name="G1_B1_hard_dash_1"/>
              <p:cNvSpPr/>
              <p:nvPr/>
            </p:nvSpPr>
            <p:spPr>
              <a:xfrm>
                <a:off x="2839593" y="5218176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1" name="G1_B1_hard_dash_2"/>
              <p:cNvSpPr/>
              <p:nvPr/>
            </p:nvSpPr>
            <p:spPr>
              <a:xfrm>
                <a:off x="2839593" y="5559552"/>
                <a:ext cx="43434" cy="37931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42" name="G1_B1_Easy"/>
              <p:cNvSpPr/>
              <p:nvPr/>
            </p:nvSpPr>
            <p:spPr>
              <a:xfrm>
                <a:off x="2755582" y="327279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43" name="G1_B1_Medium"/>
              <p:cNvSpPr/>
              <p:nvPr/>
            </p:nvSpPr>
            <p:spPr>
              <a:xfrm>
                <a:off x="2712244" y="434768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44" name="G1_B1_Hard"/>
              <p:cNvSpPr/>
              <p:nvPr/>
            </p:nvSpPr>
            <p:spPr>
              <a:xfrm>
                <a:off x="2774632" y="564070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513" name="VLA / WAM — Mind2Act"/>
            <p:cNvGrpSpPr/>
            <p:nvPr/>
          </p:nvGrpSpPr>
          <p:grpSpPr>
            <a:xfrm rot="5400000">
              <a:off x="8216211" y="4582890"/>
              <a:ext cx="174526" cy="534461"/>
              <a:chOff x="3771392" y="4112895"/>
              <a:chExt cx="1040384" cy="3186017"/>
            </a:xfrm>
          </p:grpSpPr>
          <p:sp>
            <p:nvSpPr>
              <p:cNvPr id="524" name="G1_B2_bar"/>
              <p:cNvSpPr/>
              <p:nvPr/>
            </p:nvSpPr>
            <p:spPr>
              <a:xfrm>
                <a:off x="3771392" y="5602605"/>
                <a:ext cx="1040384" cy="1696307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525" name="G1_B2_easy_dash_0"/>
              <p:cNvSpPr/>
              <p:nvPr/>
            </p:nvSpPr>
            <p:spPr>
              <a:xfrm>
                <a:off x="4274344" y="4519168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6" name="G1_B2_easy_dash_1"/>
              <p:cNvSpPr/>
              <p:nvPr/>
            </p:nvSpPr>
            <p:spPr>
              <a:xfrm>
                <a:off x="4274344" y="4817195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7" name="G1_B2_easy_dash_2"/>
              <p:cNvSpPr/>
              <p:nvPr/>
            </p:nvSpPr>
            <p:spPr>
              <a:xfrm>
                <a:off x="4274344" y="5115221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8" name="G1_B2_easy_dash_3"/>
              <p:cNvSpPr/>
              <p:nvPr/>
            </p:nvSpPr>
            <p:spPr>
              <a:xfrm>
                <a:off x="4274344" y="5413248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29" name="G1_B2_hard_dash_0"/>
              <p:cNvSpPr/>
              <p:nvPr/>
            </p:nvSpPr>
            <p:spPr>
              <a:xfrm>
                <a:off x="4270248" y="5944277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0" name="G1_B2_hard_dash_1"/>
              <p:cNvSpPr/>
              <p:nvPr/>
            </p:nvSpPr>
            <p:spPr>
              <a:xfrm>
                <a:off x="4270248" y="6285653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1" name="G1_B2_hard_dash_2"/>
              <p:cNvSpPr/>
              <p:nvPr/>
            </p:nvSpPr>
            <p:spPr>
              <a:xfrm>
                <a:off x="4270248" y="6627029"/>
                <a:ext cx="43434" cy="92117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32" name="G1_B2_Easy"/>
              <p:cNvSpPr/>
              <p:nvPr/>
            </p:nvSpPr>
            <p:spPr>
              <a:xfrm>
                <a:off x="4186238" y="4112895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33" name="G1_B2_Medium"/>
              <p:cNvSpPr/>
              <p:nvPr/>
            </p:nvSpPr>
            <p:spPr>
              <a:xfrm>
                <a:off x="4142899" y="557831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34" name="G1_B2_Hard"/>
              <p:cNvSpPr/>
              <p:nvPr/>
            </p:nvSpPr>
            <p:spPr>
              <a:xfrm>
                <a:off x="4205288" y="6762750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514" name="VLA / WAM — Act"/>
            <p:cNvGrpSpPr/>
            <p:nvPr/>
          </p:nvGrpSpPr>
          <p:grpSpPr>
            <a:xfrm rot="5400000">
              <a:off x="8371681" y="4667395"/>
              <a:ext cx="174526" cy="845400"/>
              <a:chOff x="5201920" y="2259330"/>
              <a:chExt cx="1040384" cy="5039582"/>
            </a:xfrm>
          </p:grpSpPr>
          <p:sp>
            <p:nvSpPr>
              <p:cNvPr id="516" name="G1_B3_bar"/>
              <p:cNvSpPr/>
              <p:nvPr/>
            </p:nvSpPr>
            <p:spPr>
              <a:xfrm>
                <a:off x="5201920" y="3208020"/>
                <a:ext cx="1040384" cy="4090892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517" name="G1_B3_easy_dash_0"/>
              <p:cNvSpPr/>
              <p:nvPr/>
            </p:nvSpPr>
            <p:spPr>
              <a:xfrm>
                <a:off x="5704046" y="2665984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518" name="G1_B3_easy_dash_1"/>
              <p:cNvSpPr/>
              <p:nvPr/>
            </p:nvSpPr>
            <p:spPr>
              <a:xfrm>
                <a:off x="5704046" y="2964011"/>
                <a:ext cx="35243" cy="54187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519" name="G1_B3_hard_dash_0"/>
              <p:cNvSpPr/>
              <p:nvPr/>
            </p:nvSpPr>
            <p:spPr>
              <a:xfrm>
                <a:off x="5699951" y="3549227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20" name="G1_B3_hard_dash_1"/>
              <p:cNvSpPr/>
              <p:nvPr/>
            </p:nvSpPr>
            <p:spPr>
              <a:xfrm>
                <a:off x="5699951" y="3890603"/>
                <a:ext cx="43434" cy="27093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21" name="G1_B3_Easy"/>
              <p:cNvSpPr/>
              <p:nvPr/>
            </p:nvSpPr>
            <p:spPr>
              <a:xfrm>
                <a:off x="5615940" y="225933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522" name="G1_B3_Medium"/>
              <p:cNvSpPr/>
              <p:nvPr/>
            </p:nvSpPr>
            <p:spPr>
              <a:xfrm>
                <a:off x="5572601" y="3053239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523" name="G1_B3_Hard"/>
              <p:cNvSpPr/>
              <p:nvPr/>
            </p:nvSpPr>
            <p:spPr>
              <a:xfrm>
                <a:off x="5634990" y="396144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grpSp>
        <p:nvGrpSpPr>
          <p:cNvPr id="546" name="组合 545"/>
          <p:cNvGrpSpPr/>
          <p:nvPr/>
        </p:nvGrpSpPr>
        <p:grpSpPr>
          <a:xfrm>
            <a:off x="8905096" y="5942684"/>
            <a:ext cx="1618969" cy="831780"/>
            <a:chOff x="8018333" y="5294880"/>
            <a:chExt cx="788998" cy="654476"/>
          </a:xfrm>
        </p:grpSpPr>
        <p:grpSp>
          <p:nvGrpSpPr>
            <p:cNvPr id="485" name="Hierarchical — Mind"/>
            <p:cNvGrpSpPr/>
            <p:nvPr/>
          </p:nvGrpSpPr>
          <p:grpSpPr>
            <a:xfrm rot="5400000">
              <a:off x="8325568" y="4987645"/>
              <a:ext cx="174527" cy="788998"/>
              <a:chOff x="7802880" y="2595563"/>
              <a:chExt cx="1040384" cy="4703349"/>
            </a:xfrm>
          </p:grpSpPr>
          <p:sp>
            <p:nvSpPr>
              <p:cNvPr id="506" name="G2_B1_bar"/>
              <p:cNvSpPr/>
              <p:nvPr/>
            </p:nvSpPr>
            <p:spPr>
              <a:xfrm>
                <a:off x="7802880" y="3375660"/>
                <a:ext cx="1040384" cy="3923252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507" name="G2_B1_easy_dash_0"/>
              <p:cNvSpPr/>
              <p:nvPr/>
            </p:nvSpPr>
            <p:spPr>
              <a:xfrm>
                <a:off x="8307229" y="3001941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508" name="G2_B1_hard_dash_0"/>
              <p:cNvSpPr/>
              <p:nvPr/>
            </p:nvSpPr>
            <p:spPr>
              <a:xfrm>
                <a:off x="8303133" y="372262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9" name="G2_B1_Easy"/>
              <p:cNvSpPr/>
              <p:nvPr/>
            </p:nvSpPr>
            <p:spPr>
              <a:xfrm>
                <a:off x="8219123" y="2595563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10" name="G2_B1_Medium"/>
              <p:cNvSpPr/>
              <p:nvPr/>
            </p:nvSpPr>
            <p:spPr>
              <a:xfrm>
                <a:off x="8175784" y="3226594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511" name="G2_B1_Hard"/>
              <p:cNvSpPr/>
              <p:nvPr/>
            </p:nvSpPr>
            <p:spPr>
              <a:xfrm>
                <a:off x="8238173" y="396144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86" name="Hierarchical — Mind2Act"/>
            <p:cNvGrpSpPr/>
            <p:nvPr/>
          </p:nvGrpSpPr>
          <p:grpSpPr>
            <a:xfrm rot="5400000">
              <a:off x="8287859" y="5265328"/>
              <a:ext cx="174527" cy="713580"/>
              <a:chOff x="9233408" y="3045143"/>
              <a:chExt cx="1040384" cy="4253770"/>
            </a:xfrm>
          </p:grpSpPr>
          <p:sp>
            <p:nvSpPr>
              <p:cNvPr id="496" name="G2_B2_bar"/>
              <p:cNvSpPr/>
              <p:nvPr/>
            </p:nvSpPr>
            <p:spPr>
              <a:xfrm>
                <a:off x="9233408" y="4513898"/>
                <a:ext cx="1040384" cy="2785015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497" name="G2_B2_easy_dash_0"/>
              <p:cNvSpPr/>
              <p:nvPr/>
            </p:nvSpPr>
            <p:spPr>
              <a:xfrm>
                <a:off x="9735979" y="3451691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98" name="G2_B2_easy_dash_1"/>
              <p:cNvSpPr/>
              <p:nvPr/>
            </p:nvSpPr>
            <p:spPr>
              <a:xfrm>
                <a:off x="9735979" y="3749717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99" name="G2_B2_easy_dash_2"/>
              <p:cNvSpPr/>
              <p:nvPr/>
            </p:nvSpPr>
            <p:spPr>
              <a:xfrm>
                <a:off x="9735979" y="4047744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500" name="G2_B2_hard_dash_0"/>
              <p:cNvSpPr/>
              <p:nvPr/>
            </p:nvSpPr>
            <p:spPr>
              <a:xfrm>
                <a:off x="9731883" y="486054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1" name="G2_B2_hard_dash_1"/>
              <p:cNvSpPr/>
              <p:nvPr/>
            </p:nvSpPr>
            <p:spPr>
              <a:xfrm>
                <a:off x="9731883" y="520192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2" name="G2_B2_hard_dash_2"/>
              <p:cNvSpPr/>
              <p:nvPr/>
            </p:nvSpPr>
            <p:spPr>
              <a:xfrm>
                <a:off x="9731883" y="5543296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503" name="G2_B2_Easy"/>
              <p:cNvSpPr/>
              <p:nvPr/>
            </p:nvSpPr>
            <p:spPr>
              <a:xfrm>
                <a:off x="9647873" y="3045143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04" name="G2_B2_Medium"/>
              <p:cNvSpPr/>
              <p:nvPr/>
            </p:nvSpPr>
            <p:spPr>
              <a:xfrm>
                <a:off x="9604534" y="434768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505" name="G2_B2_Hard"/>
              <p:cNvSpPr/>
              <p:nvPr/>
            </p:nvSpPr>
            <p:spPr>
              <a:xfrm>
                <a:off x="9666923" y="580929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87" name="Hierarchical — Act"/>
            <p:cNvGrpSpPr/>
            <p:nvPr/>
          </p:nvGrpSpPr>
          <p:grpSpPr>
            <a:xfrm rot="5400000">
              <a:off x="8316061" y="5477101"/>
              <a:ext cx="174527" cy="769984"/>
              <a:chOff x="10663936" y="2708910"/>
              <a:chExt cx="1040384" cy="4590003"/>
            </a:xfrm>
          </p:grpSpPr>
          <p:sp>
            <p:nvSpPr>
              <p:cNvPr id="489" name="G2_B3_bar"/>
              <p:cNvSpPr/>
              <p:nvPr/>
            </p:nvSpPr>
            <p:spPr>
              <a:xfrm>
                <a:off x="10663936" y="3635693"/>
                <a:ext cx="1040384" cy="3663220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490" name="G2_B3_easy_dash_0"/>
              <p:cNvSpPr/>
              <p:nvPr/>
            </p:nvSpPr>
            <p:spPr>
              <a:xfrm>
                <a:off x="11166634" y="3115733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91" name="G2_B3_hard_dash_0"/>
              <p:cNvSpPr/>
              <p:nvPr/>
            </p:nvSpPr>
            <p:spPr>
              <a:xfrm>
                <a:off x="11162538" y="3982720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92" name="G2_B3_hard_dash_1"/>
              <p:cNvSpPr/>
              <p:nvPr/>
            </p:nvSpPr>
            <p:spPr>
              <a:xfrm>
                <a:off x="11162538" y="4324096"/>
                <a:ext cx="43434" cy="43349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93" name="G2_B3_Easy"/>
              <p:cNvSpPr/>
              <p:nvPr/>
            </p:nvSpPr>
            <p:spPr>
              <a:xfrm>
                <a:off x="11078528" y="2708910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94" name="G2_B3_Medium"/>
              <p:cNvSpPr/>
              <p:nvPr/>
            </p:nvSpPr>
            <p:spPr>
              <a:xfrm>
                <a:off x="11035189" y="3448526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95" name="G2_B3_Hard"/>
              <p:cNvSpPr/>
              <p:nvPr/>
            </p:nvSpPr>
            <p:spPr>
              <a:xfrm>
                <a:off x="11097578" y="4411028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grpSp>
        <p:nvGrpSpPr>
          <p:cNvPr id="545" name="组合 544"/>
          <p:cNvGrpSpPr/>
          <p:nvPr/>
        </p:nvGrpSpPr>
        <p:grpSpPr>
          <a:xfrm>
            <a:off x="8918155" y="5009095"/>
            <a:ext cx="1811098" cy="831779"/>
            <a:chOff x="7988037" y="6050026"/>
            <a:chExt cx="882631" cy="654475"/>
          </a:xfrm>
        </p:grpSpPr>
        <p:grpSp>
          <p:nvGrpSpPr>
            <p:cNvPr id="454" name="LLM as policy — Mind"/>
            <p:cNvGrpSpPr/>
            <p:nvPr/>
          </p:nvGrpSpPr>
          <p:grpSpPr>
            <a:xfrm rot="5400000">
              <a:off x="8342089" y="5695975"/>
              <a:ext cx="174527" cy="882630"/>
              <a:chOff x="13264896" y="2037398"/>
              <a:chExt cx="1040384" cy="5261515"/>
            </a:xfrm>
          </p:grpSpPr>
          <p:sp>
            <p:nvSpPr>
              <p:cNvPr id="477" name="G3_B1_bar"/>
              <p:cNvSpPr/>
              <p:nvPr/>
            </p:nvSpPr>
            <p:spPr>
              <a:xfrm>
                <a:off x="13264896" y="2888933"/>
                <a:ext cx="1040384" cy="4409980"/>
              </a:xfrm>
              <a:prstGeom prst="roundRect">
                <a:avLst>
                  <a:gd name="adj" fmla="val 17853"/>
                </a:avLst>
              </a:prstGeom>
              <a:solidFill>
                <a:srgbClr val="6D967F"/>
              </a:solidFill>
              <a:ln w="0">
                <a:noFill/>
                <a:prstDash val="solid"/>
              </a:ln>
            </p:spPr>
          </p:sp>
          <p:sp>
            <p:nvSpPr>
              <p:cNvPr id="478" name="G3_B1_easy_dash_0"/>
              <p:cNvSpPr/>
              <p:nvPr/>
            </p:nvSpPr>
            <p:spPr>
              <a:xfrm>
                <a:off x="13767911" y="2443819"/>
                <a:ext cx="35243" cy="124629"/>
              </a:xfrm>
              <a:prstGeom prst="rect">
                <a:avLst/>
              </a:prstGeom>
              <a:solidFill>
                <a:srgbClr val="C4D5CB"/>
              </a:solidFill>
              <a:ln w="0">
                <a:noFill/>
                <a:prstDash val="solid"/>
              </a:ln>
            </p:spPr>
          </p:sp>
          <p:sp>
            <p:nvSpPr>
              <p:cNvPr id="479" name="G3_B1_hard_dash_0"/>
              <p:cNvSpPr/>
              <p:nvPr/>
            </p:nvSpPr>
            <p:spPr>
              <a:xfrm>
                <a:off x="13763816" y="2996523"/>
                <a:ext cx="43434" cy="37931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0" name="G3_B1_hard_dash_1"/>
              <p:cNvSpPr/>
              <p:nvPr/>
            </p:nvSpPr>
            <p:spPr>
              <a:xfrm>
                <a:off x="13763816" y="3234944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1" name="G3_B1_hard_dash_2"/>
              <p:cNvSpPr/>
              <p:nvPr/>
            </p:nvSpPr>
            <p:spPr>
              <a:xfrm>
                <a:off x="13763816" y="3576320"/>
                <a:ext cx="43434" cy="5419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82" name="G3_B1_Easy"/>
              <p:cNvSpPr/>
              <p:nvPr/>
            </p:nvSpPr>
            <p:spPr>
              <a:xfrm>
                <a:off x="13679805" y="2037398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483" name="G3_B1_Medium"/>
              <p:cNvSpPr/>
              <p:nvPr/>
            </p:nvSpPr>
            <p:spPr>
              <a:xfrm>
                <a:off x="13636466" y="266176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D967F"/>
                </a:solidFill>
                <a:prstDash val="solid"/>
              </a:ln>
            </p:spPr>
          </p:sp>
          <p:sp>
            <p:nvSpPr>
              <p:cNvPr id="484" name="G3_B1_Hard"/>
              <p:cNvSpPr/>
              <p:nvPr/>
            </p:nvSpPr>
            <p:spPr>
              <a:xfrm>
                <a:off x="13698855" y="362521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55" name="LLM as policy — Mind2Act"/>
            <p:cNvGrpSpPr/>
            <p:nvPr/>
          </p:nvGrpSpPr>
          <p:grpSpPr>
            <a:xfrm rot="5400000">
              <a:off x="8201160" y="6076878"/>
              <a:ext cx="174527" cy="600771"/>
              <a:chOff x="14695424" y="3717607"/>
              <a:chExt cx="1040384" cy="3581306"/>
            </a:xfrm>
          </p:grpSpPr>
          <p:sp>
            <p:nvSpPr>
              <p:cNvPr id="467" name="G3_B2_bar"/>
              <p:cNvSpPr/>
              <p:nvPr/>
            </p:nvSpPr>
            <p:spPr>
              <a:xfrm>
                <a:off x="14695424" y="5131118"/>
                <a:ext cx="1040384" cy="2167795"/>
              </a:xfrm>
              <a:prstGeom prst="roundRect">
                <a:avLst>
                  <a:gd name="adj" fmla="val 17853"/>
                </a:avLst>
              </a:prstGeom>
              <a:solidFill>
                <a:srgbClr val="658696"/>
              </a:solidFill>
              <a:ln w="0">
                <a:noFill/>
                <a:prstDash val="solid"/>
              </a:ln>
            </p:spPr>
          </p:sp>
          <p:sp>
            <p:nvSpPr>
              <p:cNvPr id="468" name="G3_B2_easy_dash_0"/>
              <p:cNvSpPr/>
              <p:nvPr/>
            </p:nvSpPr>
            <p:spPr>
              <a:xfrm>
                <a:off x="15198566" y="4123605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69" name="G3_B2_easy_dash_1"/>
              <p:cNvSpPr/>
              <p:nvPr/>
            </p:nvSpPr>
            <p:spPr>
              <a:xfrm>
                <a:off x="15198566" y="4421632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70" name="G3_B2_easy_dash_2"/>
              <p:cNvSpPr/>
              <p:nvPr/>
            </p:nvSpPr>
            <p:spPr>
              <a:xfrm>
                <a:off x="15198566" y="4719659"/>
                <a:ext cx="35243" cy="124629"/>
              </a:xfrm>
              <a:prstGeom prst="rect">
                <a:avLst/>
              </a:prstGeom>
              <a:solidFill>
                <a:srgbClr val="C1CED5"/>
              </a:solidFill>
              <a:ln w="0">
                <a:noFill/>
                <a:prstDash val="solid"/>
              </a:ln>
            </p:spPr>
          </p:sp>
          <p:sp>
            <p:nvSpPr>
              <p:cNvPr id="471" name="G3_B2_hard_dash_0"/>
              <p:cNvSpPr/>
              <p:nvPr/>
            </p:nvSpPr>
            <p:spPr>
              <a:xfrm>
                <a:off x="15194471" y="5478272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2" name="G3_B2_hard_dash_1"/>
              <p:cNvSpPr/>
              <p:nvPr/>
            </p:nvSpPr>
            <p:spPr>
              <a:xfrm>
                <a:off x="15194471" y="5819648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3" name="G3_B2_hard_dash_2"/>
              <p:cNvSpPr/>
              <p:nvPr/>
            </p:nvSpPr>
            <p:spPr>
              <a:xfrm>
                <a:off x="15194471" y="6161024"/>
                <a:ext cx="43434" cy="108373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74" name="G3_B2_Easy"/>
              <p:cNvSpPr/>
              <p:nvPr/>
            </p:nvSpPr>
            <p:spPr>
              <a:xfrm>
                <a:off x="15110460" y="3717607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475" name="G3_B2_Medium"/>
              <p:cNvSpPr/>
              <p:nvPr/>
            </p:nvSpPr>
            <p:spPr>
              <a:xfrm>
                <a:off x="15067121" y="502015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658696"/>
                </a:solidFill>
                <a:prstDash val="solid"/>
              </a:ln>
            </p:spPr>
          </p:sp>
          <p:sp>
            <p:nvSpPr>
              <p:cNvPr id="476" name="G3_B2_Hard"/>
              <p:cNvSpPr/>
              <p:nvPr/>
            </p:nvSpPr>
            <p:spPr>
              <a:xfrm>
                <a:off x="15129510" y="6313170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  <p:grpSp>
          <p:nvGrpSpPr>
            <p:cNvPr id="456" name="LLM as policy — Act"/>
            <p:cNvGrpSpPr/>
            <p:nvPr/>
          </p:nvGrpSpPr>
          <p:grpSpPr>
            <a:xfrm rot="5400000">
              <a:off x="8182145" y="6335866"/>
              <a:ext cx="174527" cy="562743"/>
              <a:chOff x="16125952" y="3944302"/>
              <a:chExt cx="1040384" cy="3354611"/>
            </a:xfrm>
          </p:grpSpPr>
          <p:sp>
            <p:nvSpPr>
              <p:cNvPr id="458" name="G3_B3_bar"/>
              <p:cNvSpPr/>
              <p:nvPr/>
            </p:nvSpPr>
            <p:spPr>
              <a:xfrm>
                <a:off x="16125952" y="5131118"/>
                <a:ext cx="1040384" cy="2167795"/>
              </a:xfrm>
              <a:prstGeom prst="roundRect">
                <a:avLst>
                  <a:gd name="adj" fmla="val 17853"/>
                </a:avLst>
              </a:prstGeom>
              <a:solidFill>
                <a:srgbClr val="294B77"/>
              </a:solidFill>
              <a:ln w="0">
                <a:noFill/>
                <a:prstDash val="solid"/>
              </a:ln>
            </p:spPr>
          </p:sp>
          <p:sp>
            <p:nvSpPr>
              <p:cNvPr id="459" name="G3_B3_easy_dash_0"/>
              <p:cNvSpPr/>
              <p:nvPr/>
            </p:nvSpPr>
            <p:spPr>
              <a:xfrm>
                <a:off x="16628269" y="4351189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0" name="G3_B3_easy_dash_1"/>
              <p:cNvSpPr/>
              <p:nvPr/>
            </p:nvSpPr>
            <p:spPr>
              <a:xfrm>
                <a:off x="16628269" y="4649216"/>
                <a:ext cx="35243" cy="124629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1" name="G3_B3_easy_dash_2"/>
              <p:cNvSpPr/>
              <p:nvPr/>
            </p:nvSpPr>
            <p:spPr>
              <a:xfrm>
                <a:off x="16628269" y="4947243"/>
                <a:ext cx="35243" cy="37931"/>
              </a:xfrm>
              <a:prstGeom prst="rect">
                <a:avLst/>
              </a:prstGeom>
              <a:solidFill>
                <a:srgbClr val="A9B7C8"/>
              </a:solidFill>
              <a:ln w="0">
                <a:noFill/>
                <a:prstDash val="solid"/>
              </a:ln>
            </p:spPr>
          </p:sp>
          <p:sp>
            <p:nvSpPr>
              <p:cNvPr id="462" name="G3_B3_hard_dash_0"/>
              <p:cNvSpPr/>
              <p:nvPr/>
            </p:nvSpPr>
            <p:spPr>
              <a:xfrm>
                <a:off x="16624173" y="5478272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63" name="G3_B3_hard_dash_1"/>
              <p:cNvSpPr/>
              <p:nvPr/>
            </p:nvSpPr>
            <p:spPr>
              <a:xfrm>
                <a:off x="16624173" y="5819648"/>
                <a:ext cx="43434" cy="146304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  <p:sp>
            <p:nvSpPr>
              <p:cNvPr id="464" name="G3_B3_Easy"/>
              <p:cNvSpPr/>
              <p:nvPr/>
            </p:nvSpPr>
            <p:spPr>
              <a:xfrm>
                <a:off x="16540163" y="3944302"/>
                <a:ext cx="211455" cy="211455"/>
              </a:xfrm>
              <a:prstGeom prst="ellipse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65" name="G3_B3_Medium"/>
              <p:cNvSpPr/>
              <p:nvPr/>
            </p:nvSpPr>
            <p:spPr>
              <a:xfrm>
                <a:off x="16496824" y="5020151"/>
                <a:ext cx="298133" cy="298133"/>
              </a:xfrm>
              <a:prstGeom prst="diamond">
                <a:avLst/>
              </a:prstGeom>
              <a:solidFill>
                <a:srgbClr val="FFFFFF"/>
              </a:solidFill>
              <a:ln w="42386">
                <a:solidFill>
                  <a:srgbClr val="294B77"/>
                </a:solidFill>
                <a:prstDash val="solid"/>
              </a:ln>
            </p:spPr>
          </p:sp>
          <p:sp>
            <p:nvSpPr>
              <p:cNvPr id="466" name="G3_B3_Hard"/>
              <p:cNvSpPr/>
              <p:nvPr/>
            </p:nvSpPr>
            <p:spPr>
              <a:xfrm>
                <a:off x="16559213" y="6090285"/>
                <a:ext cx="173355" cy="17335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  <a:prstDash val="solid"/>
              </a:ln>
            </p:spPr>
          </p:sp>
        </p:grpSp>
      </p:grpSp>
      <p:cxnSp>
        <p:nvCxnSpPr>
          <p:cNvPr id="548" name="直接连接符 547"/>
          <p:cNvCxnSpPr/>
          <p:nvPr/>
        </p:nvCxnSpPr>
        <p:spPr>
          <a:xfrm flipH="1" flipV="1">
            <a:off x="6904292" y="4873155"/>
            <a:ext cx="3965366" cy="1203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2" name="组合 581"/>
          <p:cNvGrpSpPr/>
          <p:nvPr/>
        </p:nvGrpSpPr>
        <p:grpSpPr>
          <a:xfrm>
            <a:off x="10874432" y="4123320"/>
            <a:ext cx="1545008" cy="2611088"/>
            <a:chOff x="8355284" y="4071718"/>
            <a:chExt cx="1545008" cy="2611088"/>
          </a:xfrm>
        </p:grpSpPr>
        <p:sp>
          <p:nvSpPr>
            <p:cNvPr id="571" name="Legend_Easy_marker"/>
            <p:cNvSpPr/>
            <p:nvPr/>
          </p:nvSpPr>
          <p:spPr>
            <a:xfrm>
              <a:off x="9210988" y="5347581"/>
              <a:ext cx="141626" cy="141626"/>
            </a:xfrm>
            <a:prstGeom prst="ellipse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72" name="Legend_Easy_text"/>
            <p:cNvSpPr/>
            <p:nvPr/>
          </p:nvSpPr>
          <p:spPr>
            <a:xfrm>
              <a:off x="8705433" y="5318447"/>
              <a:ext cx="1094380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Easy</a:t>
              </a:r>
            </a:p>
          </p:txBody>
        </p:sp>
        <p:sp>
          <p:nvSpPr>
            <p:cNvPr id="569" name="Legend_Medium_marker"/>
            <p:cNvSpPr/>
            <p:nvPr/>
          </p:nvSpPr>
          <p:spPr>
            <a:xfrm>
              <a:off x="9183307" y="5779519"/>
              <a:ext cx="196988" cy="196988"/>
            </a:xfrm>
            <a:prstGeom prst="diamond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70" name="Legend_Medium_text"/>
            <p:cNvSpPr/>
            <p:nvPr/>
          </p:nvSpPr>
          <p:spPr>
            <a:xfrm>
              <a:off x="8528211" y="5799068"/>
              <a:ext cx="1255318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Medium</a:t>
              </a:r>
            </a:p>
          </p:txBody>
        </p:sp>
        <p:sp>
          <p:nvSpPr>
            <p:cNvPr id="567" name="Legend_Hard_marker"/>
            <p:cNvSpPr/>
            <p:nvPr/>
          </p:nvSpPr>
          <p:spPr>
            <a:xfrm>
              <a:off x="9208413" y="6266820"/>
              <a:ext cx="146776" cy="146776"/>
            </a:xfrm>
            <a:prstGeom prst="rect">
              <a:avLst/>
            </a:prstGeom>
            <a:solidFill>
              <a:srgbClr val="FFFFFF"/>
            </a:solidFill>
            <a:ln w="32385">
              <a:solidFill>
                <a:srgbClr val="658696"/>
              </a:solidFill>
              <a:prstDash val="solid"/>
            </a:ln>
          </p:spPr>
        </p:sp>
        <p:sp>
          <p:nvSpPr>
            <p:cNvPr id="568" name="Legend_Hard_text"/>
            <p:cNvSpPr/>
            <p:nvPr/>
          </p:nvSpPr>
          <p:spPr>
            <a:xfrm>
              <a:off x="8699036" y="6257929"/>
              <a:ext cx="836879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Hard</a:t>
              </a:r>
            </a:p>
          </p:txBody>
        </p:sp>
        <p:sp>
          <p:nvSpPr>
            <p:cNvPr id="565" name="Legend_Mind_swatch"/>
            <p:cNvSpPr/>
            <p:nvPr/>
          </p:nvSpPr>
          <p:spPr>
            <a:xfrm>
              <a:off x="9149832" y="4113567"/>
              <a:ext cx="263939" cy="121026"/>
            </a:xfrm>
            <a:prstGeom prst="rect">
              <a:avLst/>
            </a:prstGeom>
            <a:solidFill>
              <a:srgbClr val="6D967F"/>
            </a:solidFill>
            <a:ln w="0">
              <a:noFill/>
              <a:prstDash val="solid"/>
            </a:ln>
          </p:spPr>
        </p:sp>
        <p:sp>
          <p:nvSpPr>
            <p:cNvPr id="566" name="Legend_Mind_text"/>
            <p:cNvSpPr/>
            <p:nvPr/>
          </p:nvSpPr>
          <p:spPr>
            <a:xfrm>
              <a:off x="8709348" y="4071718"/>
              <a:ext cx="377698" cy="24386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Mind</a:t>
              </a:r>
            </a:p>
          </p:txBody>
        </p:sp>
        <p:sp>
          <p:nvSpPr>
            <p:cNvPr id="563" name="Legend_Mind2Act_swatch"/>
            <p:cNvSpPr/>
            <p:nvPr/>
          </p:nvSpPr>
          <p:spPr>
            <a:xfrm>
              <a:off x="9149832" y="4936243"/>
              <a:ext cx="263939" cy="121026"/>
            </a:xfrm>
            <a:prstGeom prst="rect">
              <a:avLst/>
            </a:prstGeom>
            <a:solidFill>
              <a:srgbClr val="658696"/>
            </a:solidFill>
            <a:ln w="0">
              <a:noFill/>
              <a:prstDash val="solid"/>
            </a:ln>
          </p:spPr>
        </p:sp>
        <p:sp>
          <p:nvSpPr>
            <p:cNvPr id="564" name="Legend_Mind2Act_text"/>
            <p:cNvSpPr/>
            <p:nvPr/>
          </p:nvSpPr>
          <p:spPr>
            <a:xfrm>
              <a:off x="8355284" y="4896480"/>
              <a:ext cx="1545008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Mind2Act</a:t>
              </a:r>
            </a:p>
          </p:txBody>
        </p:sp>
        <p:sp>
          <p:nvSpPr>
            <p:cNvPr id="561" name="Legend_Act_swatch"/>
            <p:cNvSpPr/>
            <p:nvPr/>
          </p:nvSpPr>
          <p:spPr>
            <a:xfrm>
              <a:off x="9149832" y="4524905"/>
              <a:ext cx="263939" cy="121026"/>
            </a:xfrm>
            <a:prstGeom prst="rect">
              <a:avLst/>
            </a:prstGeom>
            <a:solidFill>
              <a:srgbClr val="294B77"/>
            </a:solidFill>
            <a:ln w="0">
              <a:noFill/>
              <a:prstDash val="solid"/>
            </a:ln>
          </p:spPr>
        </p:sp>
        <p:sp>
          <p:nvSpPr>
            <p:cNvPr id="562" name="Legend_Act_text"/>
            <p:cNvSpPr/>
            <p:nvPr/>
          </p:nvSpPr>
          <p:spPr>
            <a:xfrm>
              <a:off x="8763411" y="4484668"/>
              <a:ext cx="772504" cy="42487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defPPr>
            </a:lstStyle>
            <a:p>
              <a:pPr algn="l">
                <a:defRPr sz="2845" b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defRPr>
              </a:pPr>
              <a:r>
                <a:rPr sz="1200" b="0" dirty="0">
                  <a:solidFill>
                    <a:srgbClr val="213748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rPr>
                <a:t>Act</a:t>
              </a:r>
            </a:p>
          </p:txBody>
        </p:sp>
      </p:grpSp>
      <p:sp>
        <p:nvSpPr>
          <p:cNvPr id="560" name="Legend_divider"/>
          <p:cNvSpPr/>
          <p:nvPr/>
        </p:nvSpPr>
        <p:spPr>
          <a:xfrm>
            <a:off x="10074650" y="7575645"/>
            <a:ext cx="14807" cy="287758"/>
          </a:xfrm>
          <a:prstGeom prst="rect">
            <a:avLst/>
          </a:prstGeom>
          <a:solidFill>
            <a:srgbClr val="E3E8E6"/>
          </a:solidFill>
          <a:ln w="0">
            <a:noFill/>
            <a:prstDash val="solid"/>
          </a:ln>
        </p:spPr>
      </p:sp>
      <p:cxnSp>
        <p:nvCxnSpPr>
          <p:cNvPr id="576" name="直接连接符 575"/>
          <p:cNvCxnSpPr/>
          <p:nvPr/>
        </p:nvCxnSpPr>
        <p:spPr>
          <a:xfrm flipH="1" flipV="1">
            <a:off x="6748401" y="5900320"/>
            <a:ext cx="3965366" cy="1203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" name="文本框 582"/>
          <p:cNvSpPr txBox="1"/>
          <p:nvPr/>
        </p:nvSpPr>
        <p:spPr>
          <a:xfrm>
            <a:off x="6849831" y="3918709"/>
            <a:ext cx="960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702030302020204" pitchFamily="66" charset="0"/>
              </a:rPr>
              <a:t>VLA/WAM</a:t>
            </a:r>
          </a:p>
        </p:txBody>
      </p:sp>
      <p:sp>
        <p:nvSpPr>
          <p:cNvPr id="584" name="文本框 583"/>
          <p:cNvSpPr txBox="1"/>
          <p:nvPr/>
        </p:nvSpPr>
        <p:spPr>
          <a:xfrm>
            <a:off x="6857618" y="4911840"/>
            <a:ext cx="113220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702030302020204" pitchFamily="66" charset="0"/>
              </a:rPr>
              <a:t>LLM as policy</a:t>
            </a:r>
          </a:p>
        </p:txBody>
      </p:sp>
      <p:sp>
        <p:nvSpPr>
          <p:cNvPr id="593" name="矩形: 圆角 592"/>
          <p:cNvSpPr/>
          <p:nvPr/>
        </p:nvSpPr>
        <p:spPr>
          <a:xfrm>
            <a:off x="-7526" y="3569457"/>
            <a:ext cx="6196714" cy="3241676"/>
          </a:xfrm>
          <a:prstGeom prst="roundRect">
            <a:avLst>
              <a:gd name="adj" fmla="val 2930"/>
            </a:avLst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4" name="文本框 593"/>
          <p:cNvSpPr txBox="1"/>
          <p:nvPr/>
        </p:nvSpPr>
        <p:spPr>
          <a:xfrm rot="16200000">
            <a:off x="5002397" y="4668730"/>
            <a:ext cx="2936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Mind2Act </a:t>
            </a:r>
            <a:r>
              <a:rPr lang="en-US" altLang="zh-CN" sz="16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Policylab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5" name="右大括号 594"/>
          <p:cNvSpPr/>
          <p:nvPr/>
        </p:nvSpPr>
        <p:spPr>
          <a:xfrm flipH="1">
            <a:off x="6723847" y="4148641"/>
            <a:ext cx="95040" cy="2404015"/>
          </a:xfrm>
          <a:prstGeom prst="rightBrace">
            <a:avLst>
              <a:gd name="adj1" fmla="val 77679"/>
              <a:gd name="adj2" fmla="val 50000"/>
            </a:avLst>
          </a:prstGeom>
          <a:ln w="28575">
            <a:solidFill>
              <a:srgbClr val="182B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文本框 598"/>
          <p:cNvSpPr txBox="1"/>
          <p:nvPr/>
        </p:nvSpPr>
        <p:spPr>
          <a:xfrm>
            <a:off x="19708" y="482197"/>
            <a:ext cx="1250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Mind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Fusion Pixel 10px Prop zh-Hans" pitchFamily="2" charset="2"/>
              <a:ea typeface="Fusion Pixel 10px Prop zh-Hans" pitchFamily="2" charset="2"/>
              <a:cs typeface="Fusion Pixel 10px Prop zh-Hans" pitchFamily="2" charset="2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11108101" y="441782"/>
            <a:ext cx="986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Act</a:t>
            </a:r>
          </a:p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World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  <a:latin typeface="Fusion Pixel 10px Prop zh-Hans" pitchFamily="2" charset="2"/>
              <a:ea typeface="Fusion Pixel 10px Prop zh-Hans" pitchFamily="2" charset="2"/>
              <a:cs typeface="Fusion Pixel 10px Prop zh-Hans" pitchFamily="2" charset="2"/>
            </a:endParaRPr>
          </a:p>
        </p:txBody>
      </p:sp>
      <p:sp>
        <p:nvSpPr>
          <p:cNvPr id="602" name="文本框 601"/>
          <p:cNvSpPr txBox="1"/>
          <p:nvPr/>
        </p:nvSpPr>
        <p:spPr>
          <a:xfrm>
            <a:off x="377800" y="3521802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1517208" y="3538549"/>
            <a:ext cx="662571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45 Tasks Across 3 Tracks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655" name="组合 654"/>
          <p:cNvGrpSpPr/>
          <p:nvPr/>
        </p:nvGrpSpPr>
        <p:grpSpPr>
          <a:xfrm>
            <a:off x="2086244" y="3899141"/>
            <a:ext cx="2193191" cy="1141568"/>
            <a:chOff x="2083072" y="4134582"/>
            <a:chExt cx="2193191" cy="1141568"/>
          </a:xfrm>
        </p:grpSpPr>
        <p:pic>
          <p:nvPicPr>
            <p:cNvPr id="631" name="图片 15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84322" y="4134582"/>
              <a:ext cx="731243" cy="458078"/>
            </a:xfrm>
            <a:prstGeom prst="rect">
              <a:avLst/>
            </a:prstGeom>
          </p:spPr>
        </p:pic>
        <p:pic>
          <p:nvPicPr>
            <p:cNvPr id="632" name="图片 1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38126" y="4683725"/>
              <a:ext cx="731243" cy="592424"/>
            </a:xfrm>
            <a:prstGeom prst="rect">
              <a:avLst/>
            </a:prstGeom>
          </p:spPr>
        </p:pic>
        <p:pic>
          <p:nvPicPr>
            <p:cNvPr id="633" name="图片 156"/>
            <p:cNvPicPr>
              <a:picLocks noChangeAspect="1"/>
            </p:cNvPicPr>
            <p:nvPr/>
          </p:nvPicPr>
          <p:blipFill rotWithShape="1">
            <a:blip r:embed="rId12"/>
            <a:srcRect l="-3" t="-19788" r="3" b="19788"/>
            <a:stretch>
              <a:fillRect/>
            </a:stretch>
          </p:blipFill>
          <p:spPr>
            <a:xfrm>
              <a:off x="2083072" y="4411505"/>
              <a:ext cx="1468264" cy="864645"/>
            </a:xfrm>
            <a:prstGeom prst="rect">
              <a:avLst/>
            </a:prstGeom>
          </p:spPr>
        </p:pic>
        <p:pic>
          <p:nvPicPr>
            <p:cNvPr id="634" name="图片 16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15052" y="4137945"/>
              <a:ext cx="738240" cy="444563"/>
            </a:xfrm>
            <a:prstGeom prst="rect">
              <a:avLst/>
            </a:prstGeom>
          </p:spPr>
        </p:pic>
        <p:pic>
          <p:nvPicPr>
            <p:cNvPr id="635" name="图片 16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45021" y="4144814"/>
              <a:ext cx="731242" cy="538909"/>
            </a:xfrm>
            <a:prstGeom prst="rect">
              <a:avLst/>
            </a:prstGeom>
          </p:spPr>
        </p:pic>
      </p:grpSp>
      <p:grpSp>
        <p:nvGrpSpPr>
          <p:cNvPr id="653" name="组合 652"/>
          <p:cNvGrpSpPr/>
          <p:nvPr/>
        </p:nvGrpSpPr>
        <p:grpSpPr>
          <a:xfrm>
            <a:off x="67258" y="3927054"/>
            <a:ext cx="1799958" cy="1113654"/>
            <a:chOff x="209619" y="4122139"/>
            <a:chExt cx="1799958" cy="1113654"/>
          </a:xfrm>
        </p:grpSpPr>
        <p:pic>
          <p:nvPicPr>
            <p:cNvPr id="626" name="图片 138"/>
            <p:cNvPicPr>
              <a:picLocks noChangeAspect="1"/>
            </p:cNvPicPr>
            <p:nvPr/>
          </p:nvPicPr>
          <p:blipFill rotWithShape="1">
            <a:blip r:embed="rId15"/>
            <a:srcRect l="22981" t="15193"/>
            <a:stretch>
              <a:fillRect/>
            </a:stretch>
          </p:blipFill>
          <p:spPr>
            <a:xfrm>
              <a:off x="863747" y="4132314"/>
              <a:ext cx="1143671" cy="681913"/>
            </a:xfrm>
            <a:prstGeom prst="rect">
              <a:avLst/>
            </a:prstGeom>
          </p:spPr>
        </p:pic>
        <p:pic>
          <p:nvPicPr>
            <p:cNvPr id="627" name="图片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1587" y="4812447"/>
              <a:ext cx="573995" cy="423346"/>
            </a:xfrm>
            <a:prstGeom prst="rect">
              <a:avLst/>
            </a:prstGeom>
          </p:spPr>
        </p:pic>
        <p:pic>
          <p:nvPicPr>
            <p:cNvPr id="628" name="图片 14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435582" y="4812447"/>
              <a:ext cx="573995" cy="423346"/>
            </a:xfrm>
            <a:prstGeom prst="rect">
              <a:avLst/>
            </a:prstGeom>
          </p:spPr>
        </p:pic>
        <p:pic>
          <p:nvPicPr>
            <p:cNvPr id="642" name="图片 641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619" y="4591737"/>
              <a:ext cx="653935" cy="644056"/>
            </a:xfrm>
            <a:prstGeom prst="rect">
              <a:avLst/>
            </a:prstGeom>
          </p:spPr>
        </p:pic>
        <p:pic>
          <p:nvPicPr>
            <p:cNvPr id="644" name="图片 643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576" y="4122139"/>
              <a:ext cx="656854" cy="477202"/>
            </a:xfrm>
            <a:prstGeom prst="rect">
              <a:avLst/>
            </a:prstGeom>
          </p:spPr>
        </p:pic>
      </p:grpSp>
      <p:pic>
        <p:nvPicPr>
          <p:cNvPr id="636" name="图片 166"/>
          <p:cNvPicPr>
            <a:picLocks noChangeAspect="1"/>
          </p:cNvPicPr>
          <p:nvPr/>
        </p:nvPicPr>
        <p:blipFill rotWithShape="1">
          <a:blip r:embed="rId20"/>
          <a:srcRect t="21647" r="26187"/>
          <a:stretch>
            <a:fillRect/>
          </a:stretch>
        </p:blipFill>
        <p:spPr>
          <a:xfrm>
            <a:off x="4510480" y="3909197"/>
            <a:ext cx="844477" cy="709432"/>
          </a:xfrm>
          <a:prstGeom prst="rect">
            <a:avLst/>
          </a:prstGeom>
        </p:spPr>
      </p:pic>
      <p:pic>
        <p:nvPicPr>
          <p:cNvPr id="637" name="图片 170"/>
          <p:cNvPicPr>
            <a:picLocks noChangeAspect="1"/>
          </p:cNvPicPr>
          <p:nvPr/>
        </p:nvPicPr>
        <p:blipFill rotWithShape="1">
          <a:blip r:embed="rId21"/>
          <a:srcRect l="42845"/>
          <a:stretch>
            <a:fillRect/>
          </a:stretch>
        </p:blipFill>
        <p:spPr>
          <a:xfrm>
            <a:off x="5353837" y="3912126"/>
            <a:ext cx="719862" cy="565174"/>
          </a:xfrm>
          <a:prstGeom prst="rect">
            <a:avLst/>
          </a:prstGeom>
        </p:spPr>
      </p:pic>
      <p:pic>
        <p:nvPicPr>
          <p:cNvPr id="638" name="图片 172"/>
          <p:cNvPicPr>
            <a:picLocks noChangeAspect="1"/>
          </p:cNvPicPr>
          <p:nvPr/>
        </p:nvPicPr>
        <p:blipFill rotWithShape="1">
          <a:blip r:embed="rId22"/>
          <a:srcRect l="21438" t="22672"/>
          <a:stretch>
            <a:fillRect/>
          </a:stretch>
        </p:blipFill>
        <p:spPr>
          <a:xfrm>
            <a:off x="4510480" y="4608841"/>
            <a:ext cx="407712" cy="431867"/>
          </a:xfrm>
          <a:prstGeom prst="rect">
            <a:avLst/>
          </a:prstGeom>
        </p:spPr>
      </p:pic>
      <p:pic>
        <p:nvPicPr>
          <p:cNvPr id="639" name="图片 174"/>
          <p:cNvPicPr>
            <a:picLocks noChangeAspect="1"/>
          </p:cNvPicPr>
          <p:nvPr/>
        </p:nvPicPr>
        <p:blipFill rotWithShape="1">
          <a:blip r:embed="rId23"/>
          <a:srcRect l="30457" t="16126" r="16075"/>
          <a:stretch>
            <a:fillRect/>
          </a:stretch>
        </p:blipFill>
        <p:spPr>
          <a:xfrm>
            <a:off x="4914021" y="4615619"/>
            <a:ext cx="447655" cy="425089"/>
          </a:xfrm>
          <a:prstGeom prst="rect">
            <a:avLst/>
          </a:prstGeom>
        </p:spPr>
      </p:pic>
      <p:pic>
        <p:nvPicPr>
          <p:cNvPr id="648" name="图片 647"/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19" b="38769"/>
          <a:stretch>
            <a:fillRect/>
          </a:stretch>
        </p:blipFill>
        <p:spPr>
          <a:xfrm>
            <a:off x="5354436" y="4468942"/>
            <a:ext cx="712605" cy="571766"/>
          </a:xfrm>
          <a:prstGeom prst="rect">
            <a:avLst/>
          </a:prstGeom>
        </p:spPr>
      </p:pic>
      <p:sp>
        <p:nvSpPr>
          <p:cNvPr id="650" name="文本框 649"/>
          <p:cNvSpPr txBox="1"/>
          <p:nvPr/>
        </p:nvSpPr>
        <p:spPr>
          <a:xfrm>
            <a:off x="466884" y="4987369"/>
            <a:ext cx="1134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Comic Sans MS" panose="030F0702030302020204" pitchFamily="66" charset="0"/>
              </a:rPr>
              <a:t>Mind</a:t>
            </a:r>
          </a:p>
        </p:txBody>
      </p:sp>
      <p:sp>
        <p:nvSpPr>
          <p:cNvPr id="651" name="文本框 650"/>
          <p:cNvSpPr txBox="1"/>
          <p:nvPr/>
        </p:nvSpPr>
        <p:spPr>
          <a:xfrm>
            <a:off x="2538794" y="4983415"/>
            <a:ext cx="1674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Comic Sans MS" panose="030F0702030302020204" pitchFamily="66" charset="0"/>
              </a:rPr>
              <a:t>Mind2Act</a:t>
            </a:r>
          </a:p>
        </p:txBody>
      </p:sp>
      <p:sp>
        <p:nvSpPr>
          <p:cNvPr id="652" name="文本框 651"/>
          <p:cNvSpPr txBox="1"/>
          <p:nvPr/>
        </p:nvSpPr>
        <p:spPr>
          <a:xfrm>
            <a:off x="4993601" y="4991243"/>
            <a:ext cx="1674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Comic Sans MS" panose="030F0702030302020204" pitchFamily="66" charset="0"/>
              </a:rPr>
              <a:t>Act</a:t>
            </a:r>
          </a:p>
        </p:txBody>
      </p:sp>
      <p:sp>
        <p:nvSpPr>
          <p:cNvPr id="661" name="文本框 660"/>
          <p:cNvSpPr txBox="1"/>
          <p:nvPr/>
        </p:nvSpPr>
        <p:spPr>
          <a:xfrm>
            <a:off x="719226" y="6401488"/>
            <a:ext cx="545258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Progressive 3 Pressure levels for each task</a:t>
            </a:r>
            <a:endParaRPr lang="zh-CN" altLang="en-US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62" name="文本框 661"/>
          <p:cNvSpPr txBox="1"/>
          <p:nvPr/>
        </p:nvSpPr>
        <p:spPr>
          <a:xfrm>
            <a:off x="-339892" y="-22813"/>
            <a:ext cx="13048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Fusion Pixel 10px Prop zh-Hans" pitchFamily="2" charset="2"/>
                <a:ea typeface="Fusion Pixel 10px Prop zh-Hans" pitchFamily="2" charset="2"/>
                <a:cs typeface="Fusion Pixel 10px Prop zh-Hans" pitchFamily="2" charset="2"/>
              </a:rPr>
              <a:t>Closing the Loop for Embodied AI: Benchmarking Decoupled Cognition, Execution, and Composition</a:t>
            </a:r>
            <a:endParaRPr lang="zh-CN" altLang="en-US" sz="2000" b="1" dirty="0">
              <a:latin typeface="Fusion Pixel 10px Prop zh-Hans" pitchFamily="2" charset="2"/>
              <a:ea typeface="Fusion Pixel 10px Prop zh-Hans" pitchFamily="2" charset="2"/>
              <a:cs typeface="Fusion Pixel 10px Prop zh-Hans" pitchFamily="2" charset="2"/>
            </a:endParaRPr>
          </a:p>
        </p:txBody>
      </p:sp>
      <p:grpSp>
        <p:nvGrpSpPr>
          <p:cNvPr id="693" name="组合 692"/>
          <p:cNvGrpSpPr/>
          <p:nvPr/>
        </p:nvGrpSpPr>
        <p:grpSpPr>
          <a:xfrm>
            <a:off x="39350" y="5593531"/>
            <a:ext cx="6261248" cy="812896"/>
            <a:chOff x="97796" y="5448330"/>
            <a:chExt cx="6261248" cy="812896"/>
          </a:xfrm>
        </p:grpSpPr>
        <p:pic>
          <p:nvPicPr>
            <p:cNvPr id="667" name="图形 666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7796" y="5448330"/>
              <a:ext cx="405235" cy="405235"/>
            </a:xfrm>
            <a:prstGeom prst="rect">
              <a:avLst/>
            </a:prstGeom>
          </p:spPr>
        </p:pic>
        <p:pic>
          <p:nvPicPr>
            <p:cNvPr id="671" name="图形 670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45687" y="5503556"/>
              <a:ext cx="328827" cy="328827"/>
            </a:xfrm>
            <a:prstGeom prst="rect">
              <a:avLst/>
            </a:prstGeom>
          </p:spPr>
        </p:pic>
        <p:pic>
          <p:nvPicPr>
            <p:cNvPr id="674" name="图形 673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018166" y="5496549"/>
              <a:ext cx="360000" cy="360000"/>
            </a:xfrm>
            <a:prstGeom prst="rect">
              <a:avLst/>
            </a:prstGeom>
          </p:spPr>
        </p:pic>
        <p:sp>
          <p:nvSpPr>
            <p:cNvPr id="679" name="文本框 678"/>
            <p:cNvSpPr txBox="1"/>
            <p:nvPr/>
          </p:nvSpPr>
          <p:spPr>
            <a:xfrm>
              <a:off x="411742" y="5881171"/>
              <a:ext cx="172187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Logic depth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  <p:pic>
          <p:nvPicPr>
            <p:cNvPr id="681" name="图形 680"/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83621" y="5973744"/>
              <a:ext cx="256858" cy="256858"/>
            </a:xfrm>
            <a:prstGeom prst="rect">
              <a:avLst/>
            </a:prstGeom>
          </p:spPr>
        </p:pic>
        <p:sp>
          <p:nvSpPr>
            <p:cNvPr id="682" name="文本框 681"/>
            <p:cNvSpPr txBox="1"/>
            <p:nvPr/>
          </p:nvSpPr>
          <p:spPr>
            <a:xfrm>
              <a:off x="423042" y="5448330"/>
              <a:ext cx="152785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Mem. span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4911798" y="5448330"/>
              <a:ext cx="14472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Dynamics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  <p:pic>
          <p:nvPicPr>
            <p:cNvPr id="685" name="图形 684"/>
            <p:cNvPicPr>
              <a:picLocks noChangeAspect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678415" y="5943429"/>
              <a:ext cx="305226" cy="305226"/>
            </a:xfrm>
            <a:prstGeom prst="rect">
              <a:avLst/>
            </a:prstGeom>
          </p:spPr>
        </p:pic>
        <p:sp>
          <p:nvSpPr>
            <p:cNvPr id="686" name="文本框 685"/>
            <p:cNvSpPr txBox="1"/>
            <p:nvPr/>
          </p:nvSpPr>
          <p:spPr>
            <a:xfrm>
              <a:off x="4923341" y="5881171"/>
              <a:ext cx="133368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Precision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  <p:sp>
          <p:nvSpPr>
            <p:cNvPr id="687" name="文本框 686"/>
            <p:cNvSpPr txBox="1"/>
            <p:nvPr/>
          </p:nvSpPr>
          <p:spPr>
            <a:xfrm>
              <a:off x="2263568" y="5448330"/>
              <a:ext cx="241120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Close loop horizon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  <p:pic>
          <p:nvPicPr>
            <p:cNvPr id="689" name="图形 688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2034923" y="5901226"/>
              <a:ext cx="360000" cy="360000"/>
            </a:xfrm>
            <a:prstGeom prst="rect">
              <a:avLst/>
            </a:prstGeom>
          </p:spPr>
        </p:pic>
        <p:sp>
          <p:nvSpPr>
            <p:cNvPr id="690" name="文本框 689"/>
            <p:cNvSpPr txBox="1"/>
            <p:nvPr/>
          </p:nvSpPr>
          <p:spPr>
            <a:xfrm>
              <a:off x="2283042" y="5876385"/>
              <a:ext cx="220404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Error compound</a:t>
              </a:r>
              <a:r>
                <a:rPr lang="zh-CN" altLang="en-US" sz="1600" dirty="0">
                  <a:latin typeface="Comic Sans MS" panose="030F0702030302020204" pitchFamily="66" charset="0"/>
                  <a:cs typeface="Comic Sans MS" panose="030F0702030302020204" pitchFamily="66" charset="0"/>
                </a:rPr>
                <a:t>↑</a:t>
              </a:r>
            </a:p>
          </p:txBody>
        </p:sp>
      </p:grpSp>
      <p:sp>
        <p:nvSpPr>
          <p:cNvPr id="700" name="箭头: 虚尾 699"/>
          <p:cNvSpPr/>
          <p:nvPr/>
        </p:nvSpPr>
        <p:spPr>
          <a:xfrm rot="5400000">
            <a:off x="613667" y="5193553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1" name="箭头: 虚尾 700"/>
          <p:cNvSpPr/>
          <p:nvPr/>
        </p:nvSpPr>
        <p:spPr>
          <a:xfrm rot="5400000">
            <a:off x="2949767" y="5220493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2" name="箭头: 虚尾 701"/>
          <p:cNvSpPr/>
          <p:nvPr/>
        </p:nvSpPr>
        <p:spPr>
          <a:xfrm rot="5400000">
            <a:off x="5081757" y="5233674"/>
            <a:ext cx="331296" cy="484632"/>
          </a:xfrm>
          <a:prstGeom prst="stripedRightArrow">
            <a:avLst>
              <a:gd name="adj1" fmla="val 40829"/>
              <a:gd name="adj2" fmla="val 5191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38" y="384201"/>
            <a:ext cx="861256" cy="8612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562" y="316896"/>
            <a:ext cx="708909" cy="652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868" y="286750"/>
            <a:ext cx="669589" cy="655331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6975686" y="4477033"/>
            <a:ext cx="1565027" cy="288000"/>
            <a:chOff x="6977583" y="4490696"/>
            <a:chExt cx="1565027" cy="288000"/>
          </a:xfrm>
        </p:grpSpPr>
        <p:pic>
          <p:nvPicPr>
            <p:cNvPr id="210" name="图片 209"/>
            <p:cNvPicPr/>
            <p:nvPr/>
          </p:nvPicPr>
          <p:blipFill>
            <a:blip r:embed="rId40"/>
            <a:stretch>
              <a:fillRect/>
            </a:stretch>
          </p:blipFill>
          <p:spPr>
            <a:xfrm>
              <a:off x="6977583" y="4518589"/>
              <a:ext cx="319351" cy="225561"/>
            </a:xfrm>
            <a:prstGeom prst="rect">
              <a:avLst/>
            </a:prstGeom>
          </p:spPr>
        </p:pic>
        <p:pic>
          <p:nvPicPr>
            <p:cNvPr id="212" name="图片 211"/>
            <p:cNvPicPr/>
            <p:nvPr/>
          </p:nvPicPr>
          <p:blipFill>
            <a:blip r:embed="rId41"/>
            <a:stretch>
              <a:fillRect/>
            </a:stretch>
          </p:blipFill>
          <p:spPr>
            <a:xfrm>
              <a:off x="7300526" y="4511663"/>
              <a:ext cx="342292" cy="251528"/>
            </a:xfrm>
            <a:prstGeom prst="rect">
              <a:avLst/>
            </a:prstGeom>
          </p:spPr>
        </p:pic>
        <p:pic>
          <p:nvPicPr>
            <p:cNvPr id="26" name="图片 25"/>
            <p:cNvPicPr/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688" y="4506630"/>
              <a:ext cx="256561" cy="256561"/>
            </a:xfrm>
            <a:prstGeom prst="rect">
              <a:avLst/>
            </a:prstGeom>
          </p:spPr>
        </p:pic>
        <p:pic>
          <p:nvPicPr>
            <p:cNvPr id="29" name="图片 28"/>
            <p:cNvPicPr/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6610" y="4517636"/>
              <a:ext cx="232502" cy="23250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4610" y="4490696"/>
              <a:ext cx="288000" cy="288000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6967977" y="4209585"/>
            <a:ext cx="1563554" cy="297606"/>
            <a:chOff x="6969874" y="4223248"/>
            <a:chExt cx="1563554" cy="297606"/>
          </a:xfrm>
        </p:grpSpPr>
        <p:pic>
          <p:nvPicPr>
            <p:cNvPr id="214" name="图片 213"/>
            <p:cNvPicPr/>
            <p:nvPr/>
          </p:nvPicPr>
          <p:blipFill rotWithShape="1">
            <a:blip r:embed="rId45"/>
            <a:srcRect l="15175" t="31004" r="79909" b="60741"/>
            <a:stretch>
              <a:fillRect/>
            </a:stretch>
          </p:blipFill>
          <p:spPr>
            <a:xfrm>
              <a:off x="7332636" y="4232854"/>
              <a:ext cx="288000" cy="288000"/>
            </a:xfrm>
            <a:prstGeom prst="rect">
              <a:avLst/>
            </a:prstGeom>
          </p:spPr>
        </p:pic>
        <p:pic>
          <p:nvPicPr>
            <p:cNvPr id="9" name="图片 8"/>
            <p:cNvPicPr/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0908" y="4232854"/>
              <a:ext cx="288000" cy="288000"/>
            </a:xfrm>
            <a:prstGeom prst="rect">
              <a:avLst/>
            </a:prstGeom>
          </p:spPr>
        </p:pic>
        <p:pic>
          <p:nvPicPr>
            <p:cNvPr id="12" name="图片 11"/>
            <p:cNvPicPr/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9874" y="4232854"/>
              <a:ext cx="288000" cy="288000"/>
            </a:xfrm>
            <a:prstGeom prst="rect">
              <a:avLst/>
            </a:prstGeom>
          </p:spPr>
        </p:pic>
        <p:pic>
          <p:nvPicPr>
            <p:cNvPr id="19" name="图片 18"/>
            <p:cNvPicPr/>
            <p:nvPr/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3611" y="4232854"/>
              <a:ext cx="288000" cy="288000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5428" y="4223248"/>
              <a:ext cx="288000" cy="288000"/>
            </a:xfrm>
            <a:prstGeom prst="rect">
              <a:avLst/>
            </a:prstGeom>
          </p:spPr>
        </p:pic>
      </p:grpSp>
      <p:grpSp>
        <p:nvGrpSpPr>
          <p:cNvPr id="47" name="组合 46"/>
          <p:cNvGrpSpPr/>
          <p:nvPr/>
        </p:nvGrpSpPr>
        <p:grpSpPr>
          <a:xfrm>
            <a:off x="6903565" y="5230198"/>
            <a:ext cx="1464256" cy="288000"/>
            <a:chOff x="6947854" y="5173198"/>
            <a:chExt cx="1464256" cy="288000"/>
          </a:xfrm>
        </p:grpSpPr>
        <p:pic>
          <p:nvPicPr>
            <p:cNvPr id="204" name="图片 203"/>
            <p:cNvPicPr/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854" y="5173198"/>
              <a:ext cx="288000" cy="288000"/>
            </a:xfrm>
            <a:prstGeom prst="rect">
              <a:avLst/>
            </a:prstGeom>
          </p:spPr>
        </p:pic>
        <p:pic>
          <p:nvPicPr>
            <p:cNvPr id="206" name="图片 205"/>
            <p:cNvPicPr/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2024" y="5173198"/>
              <a:ext cx="288000" cy="288000"/>
            </a:xfrm>
            <a:prstGeom prst="rect">
              <a:avLst/>
            </a:prstGeom>
          </p:spPr>
        </p:pic>
        <p:pic>
          <p:nvPicPr>
            <p:cNvPr id="208" name="图片 207"/>
            <p:cNvPicPr/>
            <p:nvPr/>
          </p:nvPicPr>
          <p:blipFill>
            <a:blip r:embed="rId5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9939" y="5173198"/>
              <a:ext cx="288000" cy="288000"/>
            </a:xfrm>
            <a:prstGeom prst="rect">
              <a:avLst/>
            </a:prstGeom>
          </p:spPr>
        </p:pic>
        <p:pic>
          <p:nvPicPr>
            <p:cNvPr id="39" name="图片 38"/>
            <p:cNvPicPr/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4110" y="5173198"/>
              <a:ext cx="288000" cy="288000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>
            <a:off x="6911252" y="5551658"/>
            <a:ext cx="1460741" cy="288000"/>
            <a:chOff x="7387765" y="5519012"/>
            <a:chExt cx="1460741" cy="288000"/>
          </a:xfrm>
        </p:grpSpPr>
        <p:pic>
          <p:nvPicPr>
            <p:cNvPr id="190" name="图片 189"/>
            <p:cNvPicPr/>
            <p:nvPr/>
          </p:nvPicPr>
          <p:blipFill>
            <a:blip r:embed="rId5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679" y="5519012"/>
              <a:ext cx="288000" cy="288000"/>
            </a:xfrm>
            <a:prstGeom prst="rect">
              <a:avLst/>
            </a:prstGeom>
          </p:spPr>
        </p:pic>
        <p:pic>
          <p:nvPicPr>
            <p:cNvPr id="41" name="图片 40"/>
            <p:cNvPicPr/>
            <p:nvPr/>
          </p:nvPicPr>
          <p:blipFill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7765" y="5519012"/>
              <a:ext cx="288000" cy="288000"/>
            </a:xfrm>
            <a:prstGeom prst="rect">
              <a:avLst/>
            </a:prstGeom>
          </p:spPr>
        </p:pic>
        <p:pic>
          <p:nvPicPr>
            <p:cNvPr id="43" name="图片 42"/>
            <p:cNvPicPr/>
            <p:nvPr/>
          </p:nvPicPr>
          <p:blipFill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9593" y="5519012"/>
              <a:ext cx="288000" cy="288000"/>
            </a:xfrm>
            <a:prstGeom prst="rect">
              <a:avLst/>
            </a:prstGeom>
          </p:spPr>
        </p:pic>
        <p:pic>
          <p:nvPicPr>
            <p:cNvPr id="45" name="图片 44"/>
            <p:cNvPicPr/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0506" y="5519012"/>
              <a:ext cx="288000" cy="28800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6872279" y="6030500"/>
            <a:ext cx="1475688" cy="621659"/>
            <a:chOff x="6873255" y="5912356"/>
            <a:chExt cx="1475688" cy="621659"/>
          </a:xfrm>
        </p:grpSpPr>
        <p:sp>
          <p:nvSpPr>
            <p:cNvPr id="585" name="文本框 584"/>
            <p:cNvSpPr txBox="1"/>
            <p:nvPr/>
          </p:nvSpPr>
          <p:spPr>
            <a:xfrm>
              <a:off x="6873255" y="5912356"/>
              <a:ext cx="105664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Comic Sans MS" panose="030F0702030302020204" pitchFamily="66" charset="0"/>
                </a:rPr>
                <a:t>Hierarchical</a:t>
              </a: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6947751" y="6241243"/>
              <a:ext cx="1401192" cy="292772"/>
              <a:chOff x="6947751" y="6241243"/>
              <a:chExt cx="1401192" cy="292772"/>
            </a:xfrm>
          </p:grpSpPr>
          <p:pic>
            <p:nvPicPr>
              <p:cNvPr id="188" name="图片 187"/>
              <p:cNvPicPr/>
              <p:nvPr/>
            </p:nvPicPr>
            <p:blipFill>
              <a:blip r:embed="rId5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7751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4" name="图片 3"/>
              <p:cNvPicPr/>
              <p:nvPr/>
            </p:nvPicPr>
            <p:blipFill>
              <a:blip r:embed="rId5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6166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8" name="图片 7"/>
              <p:cNvPicPr/>
              <p:nvPr/>
            </p:nvPicPr>
            <p:blipFill>
              <a:blip r:embed="rId60" cstate="print">
                <a:clrChange>
                  <a:clrFrom>
                    <a:srgbClr val="F8F5EF"/>
                  </a:clrFrom>
                  <a:clrTo>
                    <a:srgbClr val="F8F5E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53193" y="6241243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/>
              <p:nvPr/>
            </p:nvPicPr>
            <p:blipFill>
              <a:blip r:embed="rId6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60943" y="6246015"/>
                <a:ext cx="288000" cy="288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Comic Sans MS</vt:lpstr>
      <vt:lpstr>Fusion Pixel 10px Prop zh-Hans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 Z</dc:creator>
  <cp:lastModifiedBy>ED Z</cp:lastModifiedBy>
  <cp:revision>95</cp:revision>
  <dcterms:created xsi:type="dcterms:W3CDTF">2026-10-09T05:47:00Z</dcterms:created>
  <dcterms:modified xsi:type="dcterms:W3CDTF">2026-10-10T09:34:31Z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9B960EA25D4F4EB6B82E9C5CD5859353_12</vt:lpwstr>
  </property>
  <property fmtid="{D5CDD505-2E9C-101B-9397-08002B2CF9AE}" pid="3" name="KSOProductBuildVer">
    <vt:lpwstr>2052-12.1.0.28505</vt:lpwstr>
  </property>
</Properties>
</file>